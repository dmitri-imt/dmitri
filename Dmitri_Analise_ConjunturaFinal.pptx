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76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44AF-70A3-E511-EA52-9136A568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B2BC1-C463-4CCE-1739-CDD65A33C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46AE7-A781-2950-A7F0-FBA6D07A9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33231-F6AF-2A27-0ED8-E1F992B61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87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FE7C-9EE3-4587-8EEF-088A5DE5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C3698-1AAA-CA0A-4BA7-9924B4604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7634A-0068-D688-C358-2C1661756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9246A-3227-4C05-DB70-424351245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0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leepingcomputer.com/news/security/instructure-reaches-agreement-with-shinyhunters-to-stop-data-leak" TargetMode="External"/><Relationship Id="rId3" Type="http://schemas.openxmlformats.org/officeDocument/2006/relationships/hyperlink" Target="https://www.planalto.gov.br/ccivil_03/_ato2023-2026/2023/decreto/D11856.htm" TargetMode="External"/><Relationship Id="rId7" Type="http://schemas.openxmlformats.org/officeDocument/2006/relationships/hyperlink" Target="https://thenextweb.com/news/the-largest-education-data-breach-in-history-was-not-an-attack-on-a-school-it-was-an-attack-on-a-vendo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eforum.org/reports/global-cybersecurity-outlook-2025/" TargetMode="External"/><Relationship Id="rId5" Type="http://schemas.openxmlformats.org/officeDocument/2006/relationships/hyperlink" Target="https://www.planalto.gov.br/ccivil_03/_ato2011-2014/2012/lei/l12737.htm" TargetMode="External"/><Relationship Id="rId4" Type="http://schemas.openxmlformats.org/officeDocument/2006/relationships/hyperlink" Target="https://www.planalto.gov.br/ccivil_03/_ato2015-2018/2018/lei/l13709.htm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c2.org/research/workforce-study" TargetMode="External"/><Relationship Id="rId3" Type="http://schemas.openxmlformats.org/officeDocument/2006/relationships/hyperlink" Target="https://newsroom.ibm.com/2024-07-30-ibm-report-escalating-data-breach-disruption-pushes-costs-to-new-highs" TargetMode="External"/><Relationship Id="rId7" Type="http://schemas.openxmlformats.org/officeDocument/2006/relationships/hyperlink" Target="https://www.fortunebusinessinsights.com/industry-reports/cyber-security-market-10116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rketintelo.com/report/small-and-medium-business-smb-cybersecurity-market" TargetMode="External"/><Relationship Id="rId5" Type="http://schemas.openxmlformats.org/officeDocument/2006/relationships/hyperlink" Target="https://www.verizon.com/business/resources/reports/dbir/" TargetMode="External"/><Relationship Id="rId4" Type="http://schemas.openxmlformats.org/officeDocument/2006/relationships/hyperlink" Target="https://www.kaspersky.com/about/press-releases/smbs-are-still-a-lucrative-opportunity-for-cybercriminals-kaspersky-reports" TargetMode="External"/><Relationship Id="rId9" Type="http://schemas.openxmlformats.org/officeDocument/2006/relationships/hyperlink" Target="https://www.fortinet.com/content/dam/fortinet/assets/reports/report-2024-cybersecurity-skills-gap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DA9C4"/>
                </a:solidFill>
              </a:rPr>
              <a:t>INSTITUTO MAUÁ DE TECNOLOGIA · MIN 1008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kern="0" spc="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DMITRI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2743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Embarcado de Segurança e Análise de Vulnerabilidades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697480"/>
            <a:ext cx="5029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Conjuntura Política e Econômica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Thomasi Ronca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22.00522-6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DMITRI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029200" cy="395020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029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</a:rPr>
              <a:t>O que 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 Raspberry Pi 5 com software embarcado. Conecta na rede local, roda sozinho e entrega resultados. Sem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complexa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precisar de um especialista.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66344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</a:rPr>
              <a:t>Como funciona hoje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86207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8163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à rede local automaticamente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28269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236976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scan com Nmap + scripts NSE (1–2x por dia ou sob demanda)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657600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hosts, portas abertas e serviços ativos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123944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078224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 com vulnerabilidades conhecidas (CVEs)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53712"/>
            <a:ext cx="256032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54456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4498848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os resultados via terminal (TUI)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1024128"/>
            <a:ext cx="3401568" cy="1828800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0" y="1024128"/>
            <a:ext cx="3401568" cy="54864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23560" y="1115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9E6E"/>
                </a:solidFill>
              </a:rPr>
              <a:t>Roadmap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23560" y="1517904"/>
            <a:ext cx="310896" cy="256032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23560" y="1517904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98464" y="1517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embarcado + TUI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23560" y="1938528"/>
            <a:ext cx="310896" cy="2560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23560" y="1938528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98464" y="1938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com dashboard de resultados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23560" y="2359152"/>
            <a:ext cx="310896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23560" y="235915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98464" y="2359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críticos e pentest automatizado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0" y="2971800"/>
            <a:ext cx="3401568" cy="2002536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0" y="2971800"/>
            <a:ext cx="34015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2356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D8"/>
                </a:solidFill>
              </a:rPr>
              <a:t>Por que é diferente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23560" y="3529584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06440" y="3456432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 — plug-and-play na rede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23560" y="3931920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06440" y="385876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técnico, sem configuração complexa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23560" y="4334256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06440" y="4261104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acessíveis para qualquer gestor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23560" y="4736592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806440" y="466344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hardware ~R$ 2.000 vs US$ 27.000+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CENÁRIO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DA9C4"/>
                </a:solidFill>
              </a:rPr>
              <a:t>MUNDO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9875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DA9C4"/>
                </a:solidFill>
              </a:rPr>
              <a:t>BRASIL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0" cy="3291840"/>
          </a:xfrm>
          <a:prstGeom prst="line">
            <a:avLst/>
          </a:prstGeom>
          <a:noFill/>
          <a:ln w="12700">
            <a:solidFill>
              <a:srgbClr val="C0CE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2724912"/>
            <a:ext cx="8412480" cy="0"/>
          </a:xfrm>
          <a:prstGeom prst="line">
            <a:avLst/>
          </a:prstGeom>
          <a:noFill/>
          <a:ln w="12700">
            <a:solidFill>
              <a:srgbClr val="C0CE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207008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207008"/>
            <a:ext cx="54864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2618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US$ 9,5 trilhões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" y="1700784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perdas globais com cibercrime em 2024 — um valor que supera o PIB de todos os países da América Latina combinados.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DA9C4"/>
                </a:solidFill>
              </a:rPr>
              <a:t>eSentire, 2024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207008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207008"/>
            <a:ext cx="54864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27448" y="12618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R$ 6,75 milhões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27448" y="1700784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custo médio de uma violação de dados no Brasil em 2024 — o país figura entre os três mais atacados do mundo.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2468880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DA9C4"/>
                </a:solidFill>
              </a:rPr>
              <a:t>IBM Security, 2024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54864" cy="1417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284378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A75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60%+ dos incidentes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" y="3282696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segurança no mundo envolveram organizações com menos de mil funcionários — pequenas empresas são o alvo preferencial, não o secundário.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4050792"/>
            <a:ext cx="3657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DA9C4"/>
                </a:solidFill>
              </a:rPr>
              <a:t>Verizon DBIR, 2025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17720" y="278892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2788920"/>
            <a:ext cx="54864" cy="1417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27448" y="284378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A75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192 milhões de ataques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27448" y="3282696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PMEs bloqueados no Brasil </a:t>
            </a:r>
            <a:r>
              <a:rPr lang="en-US" sz="10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2023, 365 tentativas por minuto. Pequenas empresas são atacadas o tempo todo, mas raramente têm como saber.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4050792"/>
            <a:ext cx="4023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DA9C4"/>
                </a:solidFill>
              </a:rPr>
              <a:t>Kaspersky, 2024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 QUE O PROJETO RESOLVE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2788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7889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07592" y="1170432"/>
            <a:ext cx="658368" cy="6583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07592" y="1170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proibitivo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" y="22860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US$ 4.390/ano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688336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 licença de software (Nessus Pro). Soluções com hardware, como o Nexpose, partem de US$ 27.000. Inviável para qualquer pequena empresa.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" y="400507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DA9C4"/>
                </a:solidFill>
              </a:rPr>
              <a:t>Nessus Pro · Rapid7 Nexpose, 2025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63824" y="1024128"/>
            <a:ext cx="2788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63824" y="1024128"/>
            <a:ext cx="278892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15384" y="1170432"/>
            <a:ext cx="658368" cy="6583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15384" y="1170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00984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técnica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00984" y="22860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A75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Exige especialista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00984" y="2688336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instalar, configurar, operar e interpretar resultados. PMEs não têm equipe de segurança — e contratar um profissional custa ainda mais.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71616" y="1024128"/>
            <a:ext cx="2788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71616" y="1024128"/>
            <a:ext cx="278892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23176" y="1170432"/>
            <a:ext cx="658368" cy="65836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23176" y="1170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08776" y="19202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inacessíveis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08776" y="22860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C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CVEs, CVSSv3, portas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08776" y="2688336"/>
            <a:ext cx="2514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outputs são técnicos demais para quem não é da área. O gestor recebe um documento que não consegue ler — e não sabe o que fazer com ele.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RECORTE CONJUNTURAL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429512"/>
            <a:ext cx="4206240" cy="129844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429512"/>
            <a:ext cx="73152" cy="12984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5209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Político-institucional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85013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brasileira de </a:t>
            </a:r>
            <a:r>
              <a:rPr lang="en-US" sz="105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cibersegurança</a:t>
            </a: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LGPD e </a:t>
            </a:r>
            <a:r>
              <a:rPr lang="en-US" sz="105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</a:t>
            </a: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11.856/2023 e pressão sobre empresas para adoção de ferramentas de diagnóstico.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429512"/>
            <a:ext cx="4206240" cy="129844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5152" y="1429512"/>
            <a:ext cx="73152" cy="12984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9744" y="15209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Macroeconômico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71737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USD/BRL, custo de hardware importado, SELIC e o crescimento do mercado global de Cyber.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46832"/>
            <a:ext cx="4206240" cy="129844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846832"/>
            <a:ext cx="73152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9382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Geopolítico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745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Cyberwarfare e ataques a infraestrutura crítica como arma de conflito entre </a:t>
            </a:r>
            <a:r>
              <a:rPr lang="en-US" sz="105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nações</a:t>
            </a: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elevando a urgência de proteção de redes industriais e corporativas.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2846832"/>
            <a:ext cx="4206240" cy="129844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45152" y="2846832"/>
            <a:ext cx="73152" cy="129844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9744" y="29382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30937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cibersegurança para PMEs: crescimento acelerado, gap de soluções acessíveis e demanda reprimida no Brasil.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PESTEL — ANÁLISE MACRO DO AMBIENTE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100584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1005840"/>
            <a:ext cx="438912" cy="19385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" y="1719072"/>
            <a:ext cx="438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" y="107899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4F72"/>
                </a:solidFill>
              </a:rPr>
              <a:t>POLÍTICO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335024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pt-BR" sz="900" b="1" dirty="0"/>
              <a:t>Brasil como alvo global:</a:t>
            </a:r>
            <a:r>
              <a:rPr lang="pt-BR" sz="900" dirty="0"/>
              <a:t> o país é o 3º mais atacado do mundo, exposto a grupos de crime organizado e, potencialmente, atores estatais. </a:t>
            </a:r>
            <a:endParaRPr lang="en-US" sz="85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ShinyHunters (Mai/2026)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dirty="0" err="1"/>
              <a:t>PNCiber</a:t>
            </a:r>
            <a:r>
              <a:rPr lang="en-US" sz="900" dirty="0"/>
              <a:t>: </a:t>
            </a:r>
            <a:r>
              <a:rPr lang="pt-BR" sz="900" dirty="0"/>
              <a:t>orienta regulação, fiscalização e cooperação internacional.</a:t>
            </a:r>
            <a:endParaRPr lang="en-US" sz="85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08960" y="100584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0" y="1005840"/>
            <a:ext cx="438912" cy="1938528"/>
          </a:xfrm>
          <a:prstGeom prst="rect">
            <a:avLst/>
          </a:prstGeom>
          <a:solidFill>
            <a:srgbClr val="0A6640"/>
          </a:solidFill>
          <a:ln w="12700">
            <a:solidFill>
              <a:srgbClr val="0A66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0" y="1719072"/>
            <a:ext cx="438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107899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A6640"/>
                </a:solidFill>
              </a:rPr>
              <a:t>ECONÔMICO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1335024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 global de cyber para PMEs: US$ 16,8 bi (2024) → US$ 52,4 bi (2033), CAGR 13,7% (Marketintelo)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PMEs: maior CAGR do setor — 15,47% (Fortune Business Insights)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Câmbio USD/BRL pode encarecer hardware importado; demanda por IA eleva preço de RAM e componentes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53328" y="100584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3328" y="1005840"/>
            <a:ext cx="438912" cy="193852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53328" y="1719072"/>
            <a:ext cx="438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56248" y="107899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C3483"/>
                </a:solidFill>
              </a:rPr>
              <a:t>SOCIAL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56248" y="1335024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Brasil: déficit de 140 mil profissionais de cibersegurança (IDC/ISC² 2024); Fortinet estima necessidade de 750 mil especialistas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61% das PMEs globais reportaram ao menos 1 incidente em 2024 (Marketintelo)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Falta de profissionais cria demanda por soluções que não exijam expertise técnica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64592" y="303580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4592" y="3035808"/>
            <a:ext cx="438912" cy="1938528"/>
          </a:xfrm>
          <a:prstGeom prst="rect">
            <a:avLst/>
          </a:prstGeom>
          <a:solidFill>
            <a:srgbClr val="7D4A00"/>
          </a:solidFill>
          <a:ln w="12700">
            <a:solidFill>
              <a:srgbClr val="7D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4592" y="3749040"/>
            <a:ext cx="438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" y="3108960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D4A00"/>
                </a:solidFill>
              </a:rPr>
              <a:t>TECNOLÓGICO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" y="3364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Convergência OT/IT expõe redes industriais a ameaças antes restritas ao ambiente de TI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Ransomware contra PMEs cresceu 61,8% entre 2021–2024 (Marketintelo)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 acelera descoberta de vulnerabilidades — sistemas legados cada vez mais expostos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Dmitri integra IA no frontend; Nmap+NSE como base open-source madura e extensível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0" y="303580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08960" y="3035808"/>
            <a:ext cx="438912" cy="1938528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08960" y="3749040"/>
            <a:ext cx="438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611880" y="3108960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4053"/>
                </a:solidFill>
              </a:rPr>
              <a:t>AMBIENTAL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3364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embarcado (~15W) tem pegada de carbono significativamente menor que servidores cloud para o </a:t>
            </a:r>
            <a:r>
              <a:rPr lang="en-US" sz="8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</a:t>
            </a: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53328" y="303580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53328" y="3035808"/>
            <a:ext cx="438912" cy="19385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53328" y="3749040"/>
            <a:ext cx="438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56248" y="3108960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22B21"/>
                </a:solidFill>
              </a:rPr>
              <a:t>LEGAL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56248" y="3364992"/>
            <a:ext cx="226771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LGPD (Lei 13.709/2018)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Lei Carolina Dieckmann (12.737/2012): pentest com autorização formal é legal no </a:t>
            </a:r>
            <a:r>
              <a:rPr lang="en-US" sz="8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aspecto central do Dmitri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SWOT — ANÁLISE ESTRATÉGICA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34340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343400" cy="38404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60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07899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0881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Interno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" y="1517904"/>
            <a:ext cx="91440" cy="9144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44475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 integrado — plug-and-play na rede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837944"/>
            <a:ext cx="91440" cy="9144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76479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custo de hardware (~R$ 1.300 vs US$ 27.000+)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157984"/>
            <a:ext cx="91440" cy="9144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08483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extensível, sem dependência de vendor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478024"/>
            <a:ext cx="91440" cy="9144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40487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automático sem intervenção técnica diária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798064"/>
            <a:ext cx="91440" cy="9144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72491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acessível para não-especialistas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34340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34340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1060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09560" y="107899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9560" y="10881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Externo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18888" y="1517904"/>
            <a:ext cx="9144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65192" y="144475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Cyber: CAGR 13,7% até 2033 (Marketintelo)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18888" y="1837944"/>
            <a:ext cx="9144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65192" y="176479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claro de soluções acessíveis para PMEs no Brasil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2157984"/>
            <a:ext cx="9144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65192" y="208483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Decreto 11.856 criam pressão regulatória por diagnóstico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18888" y="2478024"/>
            <a:ext cx="9144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65192" y="240487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140 mil profissionais impulsiona demanda por automação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" y="3035808"/>
            <a:ext cx="43434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82880" y="3035808"/>
            <a:ext cx="4343400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3090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Fraquezas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83280" y="310896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0" y="3118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Interno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2608" y="3547872"/>
            <a:ext cx="91440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8912" y="347472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restrita ao NSPi — sem validação em ambiente comercial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" y="3867912"/>
            <a:ext cx="91440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8912" y="37947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cloud e big players de IA (OpenAI, Google)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" y="4187952"/>
            <a:ext cx="91440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8912" y="411480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do scan e pentest automatizado é limitada vs pentest humano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92608" y="4507992"/>
            <a:ext cx="91440" cy="91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38912" y="443484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de versão podem quebrar sistemas legados do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3035808"/>
            <a:ext cx="43434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09160" y="3035808"/>
            <a:ext cx="4343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0600" y="3090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909560" y="310896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09560" y="3118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Externo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18888" y="3547872"/>
            <a:ext cx="914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65192" y="347472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encarecendo RAM e chips computacionais globalmente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18888" y="3867912"/>
            <a:ext cx="914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65192" y="37947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no Oriente Médio elevando custo de silício, petróleo e logística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18888" y="4187952"/>
            <a:ext cx="914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65192" y="411480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players lançando versões freemium de ferramentas similares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18888" y="4507992"/>
            <a:ext cx="914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65192" y="443484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formal e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contratual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8">
            <a:extLst>
              <a:ext uri="{FF2B5EF4-FFF2-40B4-BE49-F238E27FC236}">
                <a16:creationId xmlns:a16="http://schemas.microsoft.com/office/drawing/2014/main" id="{DE2C98D0-A36C-388F-2A64-CD853B9D5CD7}"/>
              </a:ext>
            </a:extLst>
          </p:cNvPr>
          <p:cNvSpPr/>
          <p:nvPr/>
        </p:nvSpPr>
        <p:spPr>
          <a:xfrm>
            <a:off x="4200144" y="3749172"/>
            <a:ext cx="1706880" cy="1310640"/>
          </a:xfrm>
          <a:prstGeom prst="rect">
            <a:avLst/>
          </a:prstGeom>
          <a:solidFill>
            <a:srgbClr val="F8D7DA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MATRIX — PROBABILIDADE × IMPACTO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86384" y="1121664"/>
            <a:ext cx="1706880" cy="1310640"/>
          </a:xfrm>
          <a:prstGeom prst="rect">
            <a:avLst/>
          </a:prstGeom>
          <a:solidFill>
            <a:srgbClr val="D4EDDA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493264" y="1121664"/>
            <a:ext cx="1706880" cy="1310640"/>
          </a:xfrm>
          <a:prstGeom prst="rect">
            <a:avLst/>
          </a:prstGeom>
          <a:solidFill>
            <a:srgbClr val="FFF3CD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0144" y="1121664"/>
            <a:ext cx="1706880" cy="1310640"/>
          </a:xfrm>
          <a:prstGeom prst="rect">
            <a:avLst/>
          </a:prstGeom>
          <a:solidFill>
            <a:srgbClr val="FFF3CD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" y="2432304"/>
            <a:ext cx="1706880" cy="1310640"/>
          </a:xfrm>
          <a:prstGeom prst="rect">
            <a:avLst/>
          </a:prstGeom>
          <a:solidFill>
            <a:srgbClr val="D4EDDA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93264" y="2432304"/>
            <a:ext cx="1706880" cy="1310640"/>
          </a:xfrm>
          <a:prstGeom prst="rect">
            <a:avLst/>
          </a:prstGeom>
          <a:solidFill>
            <a:srgbClr val="FFF3CD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0144" y="2432304"/>
            <a:ext cx="1706880" cy="1310640"/>
          </a:xfrm>
          <a:prstGeom prst="rect">
            <a:avLst/>
          </a:prstGeom>
          <a:solidFill>
            <a:srgbClr val="F8D7DA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6384" y="3742944"/>
            <a:ext cx="1706880" cy="1310640"/>
          </a:xfrm>
          <a:prstGeom prst="rect">
            <a:avLst/>
          </a:prstGeom>
          <a:solidFill>
            <a:srgbClr val="D4EDDA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93264" y="3742944"/>
            <a:ext cx="1706880" cy="1310640"/>
          </a:xfrm>
          <a:prstGeom prst="rect">
            <a:avLst/>
          </a:prstGeom>
          <a:solidFill>
            <a:srgbClr val="D4EDDA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65836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← IMPACTO 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945758"/>
            <a:ext cx="1706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Baixo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56688" y="945758"/>
            <a:ext cx="1706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Médio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0144" y="966216"/>
            <a:ext cx="1706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Alto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 rot="16200000">
            <a:off x="-70104" y="908304"/>
            <a:ext cx="566928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PROB.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 rot="16200000">
            <a:off x="332232" y="1111874"/>
            <a:ext cx="499872" cy="131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Alta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 rot="16200000">
            <a:off x="324717" y="2424428"/>
            <a:ext cx="566930" cy="131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Média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 rot="16200000">
            <a:off x="286267" y="3756659"/>
            <a:ext cx="643831" cy="131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Baixa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36720" y="1158240"/>
            <a:ext cx="1633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29840" y="1158240"/>
            <a:ext cx="1633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36720" y="2468880"/>
            <a:ext cx="1633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3779520"/>
            <a:ext cx="1633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63824" y="1659636"/>
            <a:ext cx="365760" cy="36576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63824" y="16596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0016" y="2839212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0016" y="28392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6736" y="31013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63824" y="2970276"/>
            <a:ext cx="365760" cy="36576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63824" y="29702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56944" y="1659636"/>
            <a:ext cx="365760" cy="365760"/>
          </a:xfrm>
          <a:prstGeom prst="ellipse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456944" y="16596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0016" y="4280916"/>
            <a:ext cx="365760" cy="36576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0016" y="42809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26736" y="4411980"/>
            <a:ext cx="365760" cy="36576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26736" y="4411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70704" y="4018788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70704" y="40187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Legenda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6480" y="1389888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26480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13350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+ IA encarecem hardware — reduz margem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184708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26480" y="1847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46520" y="17922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sem autorização contratual — risco legal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230428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26480" y="2304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46520" y="2249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player lança freemium 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26480" y="2761488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126480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46520" y="27066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quebra sistema legado do cliente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26480" y="3218688"/>
            <a:ext cx="256032" cy="256032"/>
          </a:xfrm>
          <a:prstGeom prst="ellipse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26480" y="3218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46520" y="3163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IA cloud — mudança de preço/política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26480" y="3675888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126480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46520" y="36210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não valida vulnerabilidades reais no NSPi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26480" y="4133088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12648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46520" y="40782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no OM interrompe cadeia de chips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26480" y="459028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26480" y="4590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446520" y="4535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usa Dmitri sem autorização em rede de terceiros</a:t>
            </a:r>
            <a:endParaRPr lang="en-US" sz="850" dirty="0"/>
          </a:p>
        </p:txBody>
      </p:sp>
      <p:sp>
        <p:nvSpPr>
          <p:cNvPr id="67" name="Shape 7">
            <a:extLst>
              <a:ext uri="{FF2B5EF4-FFF2-40B4-BE49-F238E27FC236}">
                <a16:creationId xmlns:a16="http://schemas.microsoft.com/office/drawing/2014/main" id="{3250BB51-906D-6A1F-4F90-3B2146B5DB5A}"/>
              </a:ext>
            </a:extLst>
          </p:cNvPr>
          <p:cNvSpPr/>
          <p:nvPr/>
        </p:nvSpPr>
        <p:spPr>
          <a:xfrm>
            <a:off x="2493264" y="3749172"/>
            <a:ext cx="1706880" cy="1310640"/>
          </a:xfrm>
          <a:prstGeom prst="rect">
            <a:avLst/>
          </a:prstGeom>
          <a:solidFill>
            <a:srgbClr val="FFF3CD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8">
            <a:extLst>
              <a:ext uri="{FF2B5EF4-FFF2-40B4-BE49-F238E27FC236}">
                <a16:creationId xmlns:a16="http://schemas.microsoft.com/office/drawing/2014/main" id="{EEBD01D8-3CCB-6BB7-AEE4-DE2FF80FC843}"/>
              </a:ext>
            </a:extLst>
          </p:cNvPr>
          <p:cNvSpPr/>
          <p:nvPr/>
        </p:nvSpPr>
        <p:spPr>
          <a:xfrm>
            <a:off x="4200144" y="1130808"/>
            <a:ext cx="1706880" cy="1310640"/>
          </a:xfrm>
          <a:prstGeom prst="rect">
            <a:avLst/>
          </a:prstGeom>
          <a:solidFill>
            <a:srgbClr val="F8D7DA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44440" y="1621536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3442" y="1133891"/>
            <a:ext cx="2834640" cy="1600200"/>
          </a:xfrm>
          <a:prstGeom prst="rect">
            <a:avLst/>
          </a:prstGeom>
          <a:solidFill>
            <a:srgbClr val="EDF2F7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48082" y="1133891"/>
            <a:ext cx="283464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13442" y="2734091"/>
            <a:ext cx="28346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48082" y="2734091"/>
            <a:ext cx="2834640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C0C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86594" y="1188755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DA9C4"/>
                </a:solidFill>
              </a:rPr>
              <a:t>MANTER INFORMADO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21234" y="1188755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5724"/>
                </a:solidFill>
              </a:rPr>
              <a:t>ENGAJAR ATIVAMENTE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86594" y="2788955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DA9C4"/>
                </a:solidFill>
              </a:rPr>
              <a:t>MONITORAR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21234" y="2788955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56404"/>
                </a:solidFill>
              </a:rPr>
              <a:t>MANTER SATISFEITO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66751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← INTERESSE 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13442" y="969299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Baixo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48082" y="969299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Alto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 rot="16200000">
            <a:off x="959528" y="1138426"/>
            <a:ext cx="832104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 INFLUÊNCIA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 rot="16200000">
            <a:off x="1301962" y="1133855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Alta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301962" y="2734055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</a:rPr>
              <a:t>Baixa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96568" y="1490507"/>
            <a:ext cx="877824" cy="694944"/>
          </a:xfrm>
          <a:prstGeom prst="ellipse">
            <a:avLst/>
          </a:prstGeom>
          <a:solidFill>
            <a:srgbClr val="0A9E6E">
              <a:alpha val="85000"/>
            </a:srgbClr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96568" y="1490507"/>
            <a:ext cx="877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Instituto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Mauá (IMT)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63496" y="2130587"/>
            <a:ext cx="877824" cy="694944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496" y="2130587"/>
            <a:ext cx="877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Lab.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NSPi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40236" y="1531654"/>
            <a:ext cx="877824" cy="694944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40236" y="1531654"/>
            <a:ext cx="877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ANPD /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Governo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23340" y="3090707"/>
            <a:ext cx="877824" cy="694944"/>
          </a:xfrm>
          <a:prstGeom prst="ellipse">
            <a:avLst/>
          </a:prstGeom>
          <a:solidFill>
            <a:srgbClr val="BA7517">
              <a:alpha val="85000"/>
            </a:srgbClr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23340" y="3090707"/>
            <a:ext cx="877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Dono de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PME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139552" y="1815117"/>
            <a:ext cx="877824" cy="694944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39552" y="1815117"/>
            <a:ext cx="877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Provedores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IA e Cloud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21772" y="3186719"/>
            <a:ext cx="877824" cy="694944"/>
          </a:xfrm>
          <a:prstGeom prst="ellipse">
            <a:avLst/>
          </a:prstGeom>
          <a:solidFill>
            <a:srgbClr val="8DA9C4">
              <a:alpha val="85000"/>
            </a:srgbClr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21772" y="3186719"/>
            <a:ext cx="877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Fornecedores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Hardware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379479" y="2948940"/>
            <a:ext cx="877824" cy="694944"/>
          </a:xfrm>
          <a:prstGeom prst="ellipse">
            <a:avLst/>
          </a:prstGeom>
          <a:solidFill>
            <a:srgbClr val="8DA9C4">
              <a:alpha val="85000"/>
            </a:srgbClr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79479" y="2948940"/>
            <a:ext cx="8778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 err="1">
                <a:solidFill>
                  <a:srgbClr val="0D1B2A"/>
                </a:solidFill>
              </a:rPr>
              <a:t>Comunidade</a:t>
            </a:r>
            <a:endParaRPr lang="en-US" sz="750" b="1" dirty="0">
              <a:solidFill>
                <a:srgbClr val="0D1B2A"/>
              </a:solidFill>
            </a:endParaRPr>
          </a:p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Open-source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4279392"/>
            <a:ext cx="85953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4279392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 / NSPi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553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 e financiam o </a:t>
            </a:r>
            <a:r>
              <a:rPr lang="en-US" sz="80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parceiros centrais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6032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ANPD / Governo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60320" y="4553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o </a:t>
            </a:r>
            <a:r>
              <a:rPr lang="en-US" sz="80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</a:t>
            </a: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moldam o contexto de adoção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Provedores IA e Cloud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09160" y="4553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crítica do </a:t>
            </a:r>
            <a:r>
              <a:rPr lang="en-US" sz="80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risco de dependência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4315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de PME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4553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Cliente-alvo final, adota ou rejeita o produto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SÍNTESE: CONJUNTURA → IMPACTOS → DMITRI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01752" y="1005840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Conjuntural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987552"/>
            <a:ext cx="28346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36392" y="1005840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Identificado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987552"/>
            <a:ext cx="29260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62472" y="1005840"/>
            <a:ext cx="281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ao Dmitri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8686800" cy="56692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1371600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426464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11.856 / LGPD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14264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regulatória por diagnóstico de segurança em empresas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9320" y="1426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demanda direta </a:t>
            </a:r>
            <a:r>
              <a:rPr lang="en-US" sz="9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conformidade exige ferramentas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975104"/>
            <a:ext cx="86868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1975104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02996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ShinyHunters / Cyberattacks em alta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63240" y="202996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 percebem que são alvos reais e frequentes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2029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 de </a:t>
            </a:r>
            <a:r>
              <a:rPr lang="en-US" sz="9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</a:t>
            </a: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</a:t>
            </a: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mercado mais receptivo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578608"/>
            <a:ext cx="8686800" cy="56692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2578608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263347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SMB security CAGR 13,7%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63240" y="26334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do setor de cibersegurança para PMEs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26334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oportunidade clara para entrada com diferencial de custo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182112"/>
            <a:ext cx="86868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" y="3182112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" y="3236976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câmbio encarecendo hardware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63240" y="323697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componentes tende a subir ao longo do tempo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32369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</a:t>
            </a:r>
            <a:r>
              <a:rPr lang="en-US" sz="9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mitigada pelo diferencial vs concorrentes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785616"/>
            <a:ext cx="8686800" cy="566928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8600" y="3785616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384048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140 mil profissionais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6324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 sem especialistas disponíveis para operar ferramentas complexas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9320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 necessidade de solução plug-and-play sem expertise técnica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4389120"/>
            <a:ext cx="86868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8600" y="4389120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" y="4443984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no OM / cadeia de chips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63240" y="444398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na cadeia global de suprimentos de semicondutores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89320" y="44439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abastecimento do hardware principal (Raspberry Pi)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CENÁRIOS FUTUROS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834640" cy="47548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042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OTIMISTA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060704"/>
            <a:ext cx="347472" cy="34747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060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" y="1572768"/>
            <a:ext cx="54864" cy="65836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572768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players de IA não criam soluções baratas — diferencial do Dmitri se mantém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" y="2377440"/>
            <a:ext cx="54864" cy="65836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37744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avança, ANPD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demanda cresce organicamente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" y="3182112"/>
            <a:ext cx="54864" cy="65836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3182112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estabiliza, hardware acessível e disponível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" y="3986784"/>
            <a:ext cx="54864" cy="65836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98678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Dmitri valida vulnerabilidades reais no NSPi, ganha credibilidade acadêmica e comercial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82112" y="1005840"/>
            <a:ext cx="283464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73552" y="1042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REALISTA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41264" y="1060704"/>
            <a:ext cx="347472" cy="34747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41264" y="1060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1572768"/>
            <a:ext cx="54864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19856" y="1572768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oscila, IA encarece componentes (~15–20%) custo sobe mas não inviabiliza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377440"/>
            <a:ext cx="54864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19856" y="237744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Regulação existe mas fiscalização em PMEs é lenta, adoção voluntária e gradual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3182112"/>
            <a:ext cx="54864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19856" y="3182112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Provedores de IA cloud mudam preços/políticas de API, exige adaptação no produto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986784"/>
            <a:ext cx="54864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19856" y="398678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profissionais persiste, cultura de segurança em PMEs ainda baixa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63056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63056" y="1005840"/>
            <a:ext cx="283464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54496" y="1042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PESSIMISTA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22208" y="1060704"/>
            <a:ext cx="347472" cy="34747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22208" y="1060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72784" y="1572768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1572768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no OM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agrava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Raspberry Pi encarece muito ou some do mercado nacional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72784" y="2377440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0" y="237744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acelera criação de exploits, scan passivo do Dmitri pode se tornar insuficiente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72784" y="3182112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3182112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quebra sistema legado de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dano de reputação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72784" y="3986784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0" y="398678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cloud/IA cortada por mudança de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feature central deixa de funcionar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RECOMENDAÇÕES POR CENÁRIO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2834640" cy="566928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1033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OTIMISTA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12984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Aproveitar o momento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" y="1691640"/>
            <a:ext cx="274320" cy="27432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691640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Protocolar parceria com empresa ou laboratório externo para piloto pago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" y="2715768"/>
            <a:ext cx="274320" cy="27432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" y="2715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715768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desenvolvimento do frontend e pentest automatizado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" y="3739896"/>
            <a:ext cx="274320" cy="274320"/>
          </a:xfrm>
          <a:prstGeom prst="rect">
            <a:avLst/>
          </a:prstGeom>
          <a:solidFill>
            <a:srgbClr val="0A9E6E"/>
          </a:solidFill>
          <a:ln w="12700">
            <a:solidFill>
              <a:srgbClr val="0A9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0896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739896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 publicar resultados do NSPi como caso de estudo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82112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82112" y="1005840"/>
            <a:ext cx="2834640" cy="5669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1033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REALISTA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12984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 com cautela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691640"/>
            <a:ext cx="27432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39312" y="1691640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foco na entrega do v1 no NSPi com validação técnica sólida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715768"/>
            <a:ext cx="27432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2715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39312" y="2715768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fornecedores alternativos de hardware para reduzir risco de câmbio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3739896"/>
            <a:ext cx="27432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39312" y="3739896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contrato padrão de autorização para uso do pentest automatizado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63056" y="100584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63056" y="1005840"/>
            <a:ext cx="28346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72784" y="1033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PESSIMISTA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72784" y="12984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o projeto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72784" y="1691640"/>
            <a:ext cx="27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72784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0256" y="1691640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substitutos nacionais para o Raspberry Pi (Orange Pi, Banana Pi)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72784" y="2715768"/>
            <a:ext cx="27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72784" y="2715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20256" y="2715768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dependência de APIs de IA cloud, avaliar modelos locais (Ollama, LLaMA)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72784" y="3739896"/>
            <a:ext cx="27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72784" y="3739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20256" y="3739896"/>
            <a:ext cx="230428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 TCC tenha valor acadêmico completo mesmo sem expansão comercial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73152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" y="1115568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09728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4296" y="1258824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 brasileiras enfrentam 192 milhões de ataques por ano e arcam com custos médios de R$ 6,75 milhões por violação. O problema é real, documentado e crescente — e a maioria dessas empresas não tem visibilidade alguma sobre suas próprias vulnerabilidades.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73152" cy="1234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0624" y="2441448"/>
            <a:ext cx="347472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Conjuntura Favorável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636520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global e nacional converge para tornar o Dmitri necessário: regulação brasileira avançando (LGPD, Decreto 11.856), mercado SMB security crescendo 13,7%/ano, déficit de 140 mil profissionais criando demanda por automação, e cyberataques em alta histórica como demonstrado pelo caso ShinyHunters/Canvas.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0624" y="3767328"/>
            <a:ext cx="34747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490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Dmitri como Resposta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3895344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appliance embarcado de baixo custo que democratiza o acesso ao diagnóstico de vulnerabilidades. Não exige técnico, não exige contrato anual, não exige infraestrutura. Conecta na rede, escaneia, explica. A solução certa, para o cliente certo, no momento certo.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Mauá de </a:t>
            </a:r>
            <a:r>
              <a:rPr lang="en-US" sz="90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49D77-0F8C-82C7-2C16-BB77ACE24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62239E-48A3-4FE0-3A4F-4E865BC7878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CF7FD7-8655-6BAF-2E48-6C9B14F7536A}"/>
              </a:ext>
            </a:extLst>
          </p:cNvPr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4C869C-EB2C-D3BD-0F69-B2AB32D24BA1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</a:t>
            </a:r>
            <a:r>
              <a:rPr lang="pt-BR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ÊNCIAS</a:t>
            </a:r>
            <a:endParaRPr lang="en-US" sz="2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7563A7A-DA4D-24EC-C296-06CA27E98251}"/>
              </a:ext>
            </a:extLst>
          </p:cNvPr>
          <p:cNvSpPr/>
          <p:nvPr/>
        </p:nvSpPr>
        <p:spPr>
          <a:xfrm>
            <a:off x="365760" y="1135380"/>
            <a:ext cx="8503920" cy="3756660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r>
              <a:rPr lang="pt-BR" sz="1100" dirty="0">
                <a:solidFill>
                  <a:schemeClr val="bg2"/>
                </a:solidFill>
              </a:rPr>
              <a:t>BRASIL. </a:t>
            </a:r>
            <a:r>
              <a:rPr lang="pt-BR" sz="1100" i="1" dirty="0">
                <a:solidFill>
                  <a:schemeClr val="bg2"/>
                </a:solidFill>
              </a:rPr>
              <a:t>Decreto nº 11.856, de 26 de dezembro de 2023</a:t>
            </a:r>
            <a:r>
              <a:rPr lang="pt-BR" sz="1100" dirty="0">
                <a:solidFill>
                  <a:schemeClr val="bg2"/>
                </a:solidFill>
              </a:rPr>
              <a:t>. Institui a Política Nacional de Cibersegurança e o Comitê Nacional de Cibersegurança. Diário Oficial da União, Seção 1, p. 10, 27 dez. 2023. Disponível em: </a:t>
            </a:r>
            <a:r>
              <a:rPr lang="pt-BR" sz="11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https://www.planalto.gov.br/ccivil_03/_ato2023-2026/2023/decreto/D11856.htm</a:t>
            </a:r>
            <a:r>
              <a:rPr lang="pt-BR" sz="1100" dirty="0">
                <a:solidFill>
                  <a:schemeClr val="bg2"/>
                </a:solidFill>
              </a:rPr>
              <a:t>. Acesso em: 15 maio 2026.</a:t>
            </a:r>
          </a:p>
          <a:p>
            <a:endParaRPr lang="pt-BR" sz="1100" dirty="0">
              <a:solidFill>
                <a:schemeClr val="bg2"/>
              </a:solidFill>
            </a:endParaRPr>
          </a:p>
          <a:p>
            <a:r>
              <a:rPr lang="pt-BR" sz="1100" dirty="0">
                <a:solidFill>
                  <a:schemeClr val="bg2"/>
                </a:solidFill>
              </a:rPr>
              <a:t>BRASIL. </a:t>
            </a:r>
            <a:r>
              <a:rPr lang="pt-BR" sz="1100" i="1" dirty="0">
                <a:solidFill>
                  <a:schemeClr val="bg2"/>
                </a:solidFill>
              </a:rPr>
              <a:t>Lei nº 13.709, de 14 de agosto de 2018</a:t>
            </a:r>
            <a:r>
              <a:rPr lang="pt-BR" sz="1100" dirty="0">
                <a:solidFill>
                  <a:schemeClr val="bg2"/>
                </a:solidFill>
              </a:rPr>
              <a:t>. Lei Geral de Proteção de Dados Pessoais (LGPD). Diário Oficial da União, Brasília, DF, 15 ago. 2018. Disponível em: </a:t>
            </a:r>
            <a:r>
              <a:rPr lang="pt-BR" sz="11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https://www.planalto.gov.br/ccivil_03/_ato2015-2018/2018/lei/l13709.htm</a:t>
            </a:r>
            <a:r>
              <a:rPr lang="pt-BR" sz="1100" dirty="0">
                <a:solidFill>
                  <a:schemeClr val="bg2"/>
                </a:solidFill>
              </a:rPr>
              <a:t>. Acesso em: 15 maio 2026.</a:t>
            </a:r>
          </a:p>
          <a:p>
            <a:endParaRPr lang="pt-BR" sz="1100" dirty="0">
              <a:solidFill>
                <a:schemeClr val="bg2"/>
              </a:solidFill>
            </a:endParaRPr>
          </a:p>
          <a:p>
            <a:r>
              <a:rPr lang="pt-BR" sz="1100" dirty="0">
                <a:solidFill>
                  <a:schemeClr val="bg2"/>
                </a:solidFill>
              </a:rPr>
              <a:t>BRASIL. </a:t>
            </a:r>
            <a:r>
              <a:rPr lang="pt-BR" sz="1100" i="1" dirty="0">
                <a:solidFill>
                  <a:schemeClr val="bg2"/>
                </a:solidFill>
              </a:rPr>
              <a:t>Lei nº 12.737, de 30 de novembro de 2012</a:t>
            </a:r>
            <a:r>
              <a:rPr lang="pt-BR" sz="1100" dirty="0">
                <a:solidFill>
                  <a:schemeClr val="bg2"/>
                </a:solidFill>
              </a:rPr>
              <a:t>. Dispõe sobre a tipificação criminal de delitos informáticos. Diário Oficial da União, Brasília, DF, 3 dez. 2012. Disponível em: </a:t>
            </a:r>
            <a:r>
              <a:rPr lang="pt-BR" sz="11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https://www.planalto.gov.br/ccivil_03/_ato2011-2014/2012/lei/l12737.htm</a:t>
            </a:r>
            <a:r>
              <a:rPr lang="pt-BR" sz="1100" dirty="0">
                <a:solidFill>
                  <a:schemeClr val="bg2"/>
                </a:solidFill>
              </a:rPr>
              <a:t>. Acesso em: 15 maio 2026.</a:t>
            </a:r>
          </a:p>
          <a:p>
            <a:endParaRPr lang="pt-BR" sz="1100" dirty="0">
              <a:solidFill>
                <a:schemeClr val="bg2"/>
              </a:solidFill>
            </a:endParaRPr>
          </a:p>
          <a:p>
            <a:r>
              <a:rPr lang="en-US" sz="1100" dirty="0">
                <a:solidFill>
                  <a:schemeClr val="bg2"/>
                </a:solidFill>
              </a:rPr>
              <a:t>WORLD ECONOMIC FORUM. </a:t>
            </a:r>
            <a:r>
              <a:rPr lang="en-US" sz="1100" i="1" dirty="0">
                <a:solidFill>
                  <a:schemeClr val="bg2"/>
                </a:solidFill>
              </a:rPr>
              <a:t>Global Cybersecurity Outlook 2025</a:t>
            </a:r>
            <a:r>
              <a:rPr lang="en-US" sz="1100" dirty="0">
                <a:solidFill>
                  <a:schemeClr val="bg2"/>
                </a:solidFill>
              </a:rPr>
              <a:t>. </a:t>
            </a:r>
            <a:r>
              <a:rPr lang="en-US" sz="1100" dirty="0" err="1">
                <a:solidFill>
                  <a:schemeClr val="bg2"/>
                </a:solidFill>
              </a:rPr>
              <a:t>Genebra</a:t>
            </a:r>
            <a:r>
              <a:rPr lang="en-US" sz="1100" dirty="0">
                <a:solidFill>
                  <a:schemeClr val="bg2"/>
                </a:solidFill>
              </a:rPr>
              <a:t>: WEF, 2025. </a:t>
            </a:r>
            <a:r>
              <a:rPr lang="en-US" sz="1100" dirty="0" err="1">
                <a:solidFill>
                  <a:schemeClr val="bg2"/>
                </a:solidFill>
              </a:rPr>
              <a:t>Disponível</a:t>
            </a:r>
            <a:r>
              <a:rPr lang="en-US" sz="1100" dirty="0">
                <a:solidFill>
                  <a:schemeClr val="bg2"/>
                </a:solidFill>
              </a:rPr>
              <a:t> </a:t>
            </a:r>
            <a:r>
              <a:rPr lang="en-US" sz="1100" dirty="0" err="1">
                <a:solidFill>
                  <a:schemeClr val="bg2"/>
                </a:solidFill>
              </a:rPr>
              <a:t>em</a:t>
            </a:r>
            <a:r>
              <a:rPr lang="en-US" sz="1100" dirty="0">
                <a:solidFill>
                  <a:schemeClr val="bg2"/>
                </a:solidFill>
              </a:rPr>
              <a:t>: </a:t>
            </a:r>
            <a:r>
              <a:rPr lang="en-US" sz="1100" dirty="0">
                <a:solidFill>
                  <a:schemeClr val="bg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https://www.weforum.org/reports/global-cybersecurity-outlook-2025/</a:t>
            </a:r>
            <a:r>
              <a:rPr lang="en-US" sz="1100" dirty="0">
                <a:solidFill>
                  <a:schemeClr val="bg2"/>
                </a:solidFill>
              </a:rPr>
              <a:t>. </a:t>
            </a:r>
            <a:r>
              <a:rPr lang="en-US" sz="1100" dirty="0" err="1">
                <a:solidFill>
                  <a:schemeClr val="bg2"/>
                </a:solidFill>
              </a:rPr>
              <a:t>Acesso</a:t>
            </a:r>
            <a:r>
              <a:rPr lang="en-US" sz="1100" dirty="0">
                <a:solidFill>
                  <a:schemeClr val="bg2"/>
                </a:solidFill>
              </a:rPr>
              <a:t> </a:t>
            </a:r>
            <a:r>
              <a:rPr lang="en-US" sz="1100" dirty="0" err="1">
                <a:solidFill>
                  <a:schemeClr val="bg2"/>
                </a:solidFill>
              </a:rPr>
              <a:t>em</a:t>
            </a:r>
            <a:r>
              <a:rPr lang="en-US" sz="1100" dirty="0">
                <a:solidFill>
                  <a:schemeClr val="bg2"/>
                </a:solidFill>
              </a:rPr>
              <a:t>: 16 </a:t>
            </a:r>
            <a:r>
              <a:rPr lang="en-US" sz="1100" dirty="0" err="1">
                <a:solidFill>
                  <a:schemeClr val="bg2"/>
                </a:solidFill>
              </a:rPr>
              <a:t>maio</a:t>
            </a:r>
            <a:r>
              <a:rPr lang="en-US" sz="1100" dirty="0">
                <a:solidFill>
                  <a:schemeClr val="bg2"/>
                </a:solidFill>
              </a:rPr>
              <a:t> 2026.</a:t>
            </a:r>
          </a:p>
          <a:p>
            <a:endParaRPr lang="pt-BR" sz="1100" dirty="0">
              <a:solidFill>
                <a:schemeClr val="bg2"/>
              </a:solidFill>
            </a:endParaRPr>
          </a:p>
          <a:p>
            <a:r>
              <a:rPr lang="en-US" sz="1100" dirty="0">
                <a:solidFill>
                  <a:schemeClr val="bg2"/>
                </a:solidFill>
              </a:rPr>
              <a:t>THE NEXT WEB. </a:t>
            </a:r>
            <a:r>
              <a:rPr lang="en-US" sz="1100" i="1" dirty="0">
                <a:solidFill>
                  <a:schemeClr val="bg2"/>
                </a:solidFill>
              </a:rPr>
              <a:t>The largest education data breach in history was not an attack on a school — it was an attack on a vendor</a:t>
            </a:r>
            <a:r>
              <a:rPr lang="en-US" sz="1100" dirty="0">
                <a:solidFill>
                  <a:schemeClr val="bg2"/>
                </a:solidFill>
              </a:rPr>
              <a:t>. 2026. </a:t>
            </a:r>
            <a:r>
              <a:rPr lang="en-US" sz="1100" dirty="0" err="1">
                <a:solidFill>
                  <a:schemeClr val="bg2"/>
                </a:solidFill>
              </a:rPr>
              <a:t>Disponível</a:t>
            </a:r>
            <a:r>
              <a:rPr lang="en-US" sz="1100" dirty="0">
                <a:solidFill>
                  <a:schemeClr val="bg2"/>
                </a:solidFill>
              </a:rPr>
              <a:t> </a:t>
            </a:r>
            <a:r>
              <a:rPr lang="en-US" sz="1100" dirty="0" err="1">
                <a:solidFill>
                  <a:schemeClr val="bg2"/>
                </a:solidFill>
              </a:rPr>
              <a:t>em</a:t>
            </a:r>
            <a:r>
              <a:rPr lang="en-US" sz="1100" dirty="0">
                <a:solidFill>
                  <a:schemeClr val="bg2"/>
                </a:solidFill>
              </a:rPr>
              <a:t>: </a:t>
            </a:r>
            <a:r>
              <a:rPr lang="en-US" sz="1100" dirty="0">
                <a:solidFill>
                  <a:schemeClr val="bg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https://thenextweb.com/news/the-largest-education-data-breach-in-history-was-not-an-attack-on-a-school-it-was-an-attack-on-a-vendor</a:t>
            </a:r>
            <a:r>
              <a:rPr lang="en-US" sz="1100" dirty="0">
                <a:solidFill>
                  <a:schemeClr val="bg2"/>
                </a:solidFill>
              </a:rPr>
              <a:t>. </a:t>
            </a:r>
            <a:r>
              <a:rPr lang="en-US" sz="1100" dirty="0" err="1">
                <a:solidFill>
                  <a:schemeClr val="bg2"/>
                </a:solidFill>
              </a:rPr>
              <a:t>Acesso</a:t>
            </a:r>
            <a:r>
              <a:rPr lang="en-US" sz="1100" dirty="0">
                <a:solidFill>
                  <a:schemeClr val="bg2"/>
                </a:solidFill>
              </a:rPr>
              <a:t> </a:t>
            </a:r>
            <a:r>
              <a:rPr lang="en-US" sz="1100" dirty="0" err="1">
                <a:solidFill>
                  <a:schemeClr val="bg2"/>
                </a:solidFill>
              </a:rPr>
              <a:t>em</a:t>
            </a:r>
            <a:r>
              <a:rPr lang="en-US" sz="1100" dirty="0">
                <a:solidFill>
                  <a:schemeClr val="bg2"/>
                </a:solidFill>
              </a:rPr>
              <a:t>: 16 </a:t>
            </a:r>
            <a:r>
              <a:rPr lang="en-US" sz="1100" dirty="0" err="1">
                <a:solidFill>
                  <a:schemeClr val="bg2"/>
                </a:solidFill>
              </a:rPr>
              <a:t>maio</a:t>
            </a:r>
            <a:r>
              <a:rPr lang="en-US" sz="1100" dirty="0">
                <a:solidFill>
                  <a:schemeClr val="bg2"/>
                </a:solidFill>
              </a:rPr>
              <a:t> 2026.</a:t>
            </a:r>
          </a:p>
          <a:p>
            <a:endParaRPr lang="en-US" sz="1100" dirty="0">
              <a:solidFill>
                <a:schemeClr val="bg2"/>
              </a:solidFill>
            </a:endParaRPr>
          </a:p>
          <a:p>
            <a:r>
              <a:rPr lang="en-US" sz="1100" dirty="0">
                <a:solidFill>
                  <a:schemeClr val="bg2"/>
                </a:solidFill>
              </a:rPr>
              <a:t>BLEEPINGCOMPUTER. </a:t>
            </a:r>
            <a:r>
              <a:rPr lang="en-US" sz="1100" i="1" dirty="0">
                <a:solidFill>
                  <a:schemeClr val="bg2"/>
                </a:solidFill>
              </a:rPr>
              <a:t>Instructure reaches 'agreement' with </a:t>
            </a:r>
            <a:r>
              <a:rPr lang="en-US" sz="1100" i="1" dirty="0" err="1">
                <a:solidFill>
                  <a:schemeClr val="bg2"/>
                </a:solidFill>
              </a:rPr>
              <a:t>ShinyHunters</a:t>
            </a:r>
            <a:r>
              <a:rPr lang="en-US" sz="1100" i="1" dirty="0">
                <a:solidFill>
                  <a:schemeClr val="bg2"/>
                </a:solidFill>
              </a:rPr>
              <a:t> to stop data leak</a:t>
            </a:r>
            <a:r>
              <a:rPr lang="en-US" sz="1100" dirty="0">
                <a:solidFill>
                  <a:schemeClr val="bg2"/>
                </a:solidFill>
              </a:rPr>
              <a:t>. 2026. </a:t>
            </a:r>
            <a:r>
              <a:rPr lang="en-US" sz="1100" dirty="0" err="1">
                <a:solidFill>
                  <a:schemeClr val="bg2"/>
                </a:solidFill>
              </a:rPr>
              <a:t>Disponível</a:t>
            </a:r>
            <a:r>
              <a:rPr lang="en-US" sz="1100" dirty="0">
                <a:solidFill>
                  <a:schemeClr val="bg2"/>
                </a:solidFill>
              </a:rPr>
              <a:t> </a:t>
            </a:r>
            <a:r>
              <a:rPr lang="en-US" sz="1100" dirty="0" err="1">
                <a:solidFill>
                  <a:schemeClr val="bg2"/>
                </a:solidFill>
              </a:rPr>
              <a:t>em</a:t>
            </a:r>
            <a:r>
              <a:rPr lang="en-US" sz="1100" dirty="0">
                <a:solidFill>
                  <a:schemeClr val="bg2"/>
                </a:solidFill>
              </a:rPr>
              <a:t>: </a:t>
            </a:r>
            <a:r>
              <a:rPr lang="en-US" sz="1100" dirty="0">
                <a:solidFill>
                  <a:schemeClr val="bg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https://www.bleepingcomputer.com/news/security/instructure-reaches-agreement-with-shinyhunters-to-stop-data-leak</a:t>
            </a:r>
            <a:r>
              <a:rPr lang="en-US" sz="1100" dirty="0">
                <a:solidFill>
                  <a:schemeClr val="bg2"/>
                </a:solidFill>
              </a:rPr>
              <a:t>. </a:t>
            </a:r>
            <a:r>
              <a:rPr lang="en-US" sz="1100" dirty="0" err="1">
                <a:solidFill>
                  <a:schemeClr val="bg2"/>
                </a:solidFill>
              </a:rPr>
              <a:t>Acesso</a:t>
            </a:r>
            <a:r>
              <a:rPr lang="en-US" sz="1100" dirty="0">
                <a:solidFill>
                  <a:schemeClr val="bg2"/>
                </a:solidFill>
              </a:rPr>
              <a:t> </a:t>
            </a:r>
            <a:r>
              <a:rPr lang="en-US" sz="1100" dirty="0" err="1">
                <a:solidFill>
                  <a:schemeClr val="bg2"/>
                </a:solidFill>
              </a:rPr>
              <a:t>em</a:t>
            </a:r>
            <a:r>
              <a:rPr lang="en-US" sz="1100" dirty="0">
                <a:solidFill>
                  <a:schemeClr val="bg2"/>
                </a:solidFill>
              </a:rPr>
              <a:t>: 16 </a:t>
            </a:r>
            <a:r>
              <a:rPr lang="en-US" sz="1100" dirty="0" err="1">
                <a:solidFill>
                  <a:schemeClr val="bg2"/>
                </a:solidFill>
              </a:rPr>
              <a:t>maio</a:t>
            </a:r>
            <a:r>
              <a:rPr lang="en-US" sz="1100" dirty="0">
                <a:solidFill>
                  <a:schemeClr val="bg2"/>
                </a:solidFill>
              </a:rPr>
              <a:t> 2026.</a:t>
            </a:r>
          </a:p>
          <a:p>
            <a:endParaRPr lang="pt-BR" sz="1200" dirty="0">
              <a:solidFill>
                <a:schemeClr val="bg2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8E9F471-0C6F-E2F9-3B61-3C162A76E580}"/>
              </a:ext>
            </a:extLst>
          </p:cNvPr>
          <p:cNvSpPr/>
          <p:nvPr/>
        </p:nvSpPr>
        <p:spPr>
          <a:xfrm>
            <a:off x="274320" y="1135380"/>
            <a:ext cx="73152" cy="37566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CFE5FAD-9189-58BC-A973-0841F2395CB4}"/>
              </a:ext>
            </a:extLst>
          </p:cNvPr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Mauá de </a:t>
            </a:r>
            <a:r>
              <a:rPr lang="en-US" sz="90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2141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9C3DD-6B15-9875-A4CB-0F8B05A6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90C6EE-EF39-A84B-E22F-016A42DA943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3CBDFF-ADC1-BF7F-2912-BABC0F60A936}"/>
              </a:ext>
            </a:extLst>
          </p:cNvPr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A6AB47-8E1C-5045-5EDC-21A1B35B6567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</a:t>
            </a:r>
            <a:r>
              <a:rPr lang="pt-BR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ÊNCIAS</a:t>
            </a:r>
            <a:endParaRPr lang="en-US" sz="2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AE71A65-DBE2-18AC-32B9-C0058DE2E33D}"/>
              </a:ext>
            </a:extLst>
          </p:cNvPr>
          <p:cNvSpPr/>
          <p:nvPr/>
        </p:nvSpPr>
        <p:spPr>
          <a:xfrm>
            <a:off x="365760" y="1135380"/>
            <a:ext cx="8503920" cy="3657600"/>
          </a:xfrm>
          <a:prstGeom prst="rect">
            <a:avLst/>
          </a:prstGeom>
          <a:solidFill>
            <a:srgbClr val="1E3248"/>
          </a:solidFill>
          <a:ln w="12700">
            <a:solidFill>
              <a:srgbClr val="1E3248"/>
            </a:solidFill>
            <a:prstDash val="solid"/>
          </a:ln>
        </p:spPr>
        <p:txBody>
          <a:bodyPr/>
          <a:lstStyle/>
          <a:p>
            <a:r>
              <a:rPr lang="en-US" sz="1050" dirty="0">
                <a:solidFill>
                  <a:schemeClr val="bg2"/>
                </a:solidFill>
              </a:rPr>
              <a:t>IBM SECURITY. </a:t>
            </a:r>
            <a:r>
              <a:rPr lang="en-US" sz="1050" i="1" dirty="0">
                <a:solidFill>
                  <a:schemeClr val="bg2"/>
                </a:solidFill>
              </a:rPr>
              <a:t>Cost of a Data Breach Report 2024</a:t>
            </a:r>
            <a:r>
              <a:rPr lang="en-US" sz="1050" dirty="0">
                <a:solidFill>
                  <a:schemeClr val="bg2"/>
                </a:solidFill>
              </a:rPr>
              <a:t>. Cambridge: IBM, 30 </a:t>
            </a:r>
            <a:r>
              <a:rPr lang="en-US" sz="1050" dirty="0" err="1">
                <a:solidFill>
                  <a:schemeClr val="bg2"/>
                </a:solidFill>
              </a:rPr>
              <a:t>jul.</a:t>
            </a:r>
            <a:r>
              <a:rPr lang="en-US" sz="1050" dirty="0">
                <a:solidFill>
                  <a:schemeClr val="bg2"/>
                </a:solidFill>
              </a:rPr>
              <a:t> 2024. </a:t>
            </a:r>
            <a:r>
              <a:rPr lang="en-US" sz="1050" dirty="0" err="1">
                <a:solidFill>
                  <a:schemeClr val="bg2"/>
                </a:solidFill>
              </a:rPr>
              <a:t>Disponível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https://newsroom.ibm.com/2024-07-30-ibm-report-escalating-data-breach-disruption-pushes-costs-to-new-highs</a:t>
            </a:r>
            <a:r>
              <a:rPr lang="en-US" sz="1050" dirty="0">
                <a:solidFill>
                  <a:schemeClr val="bg2"/>
                </a:solidFill>
              </a:rPr>
              <a:t>. </a:t>
            </a:r>
            <a:r>
              <a:rPr lang="en-US" sz="1050" dirty="0" err="1">
                <a:solidFill>
                  <a:schemeClr val="bg2"/>
                </a:solidFill>
              </a:rPr>
              <a:t>Acesso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15 </a:t>
            </a:r>
            <a:r>
              <a:rPr lang="en-US" sz="1050" dirty="0" err="1">
                <a:solidFill>
                  <a:schemeClr val="bg2"/>
                </a:solidFill>
              </a:rPr>
              <a:t>maio</a:t>
            </a:r>
            <a:r>
              <a:rPr lang="en-US" sz="1050" dirty="0">
                <a:solidFill>
                  <a:schemeClr val="bg2"/>
                </a:solidFill>
              </a:rPr>
              <a:t> 2026.</a:t>
            </a:r>
          </a:p>
          <a:p>
            <a:endParaRPr lang="en-US" sz="1050" dirty="0">
              <a:solidFill>
                <a:schemeClr val="bg2"/>
              </a:solidFill>
            </a:endParaRPr>
          </a:p>
          <a:p>
            <a:r>
              <a:rPr lang="en-US" sz="1050" dirty="0">
                <a:solidFill>
                  <a:schemeClr val="bg2"/>
                </a:solidFill>
              </a:rPr>
              <a:t>KASPERSKY. </a:t>
            </a:r>
            <a:r>
              <a:rPr lang="en-US" sz="1050" i="1" dirty="0">
                <a:solidFill>
                  <a:schemeClr val="bg2"/>
                </a:solidFill>
              </a:rPr>
              <a:t>SMBs are still a lucrative opportunity for cybercriminals</a:t>
            </a:r>
            <a:r>
              <a:rPr lang="en-US" sz="1050" dirty="0">
                <a:solidFill>
                  <a:schemeClr val="bg2"/>
                </a:solidFill>
              </a:rPr>
              <a:t>. Moscou: Kaspersky, 27 jun. 2023. </a:t>
            </a:r>
            <a:r>
              <a:rPr lang="en-US" sz="1050" dirty="0" err="1">
                <a:solidFill>
                  <a:schemeClr val="bg2"/>
                </a:solidFill>
              </a:rPr>
              <a:t>Disponível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https://www.kaspersky.com/about/press-releases/smbs-are-still-a-lucrative-opportunity-for-cybercriminals-kaspersky-reports</a:t>
            </a:r>
            <a:r>
              <a:rPr lang="en-US" sz="1050" dirty="0">
                <a:solidFill>
                  <a:schemeClr val="bg2"/>
                </a:solidFill>
              </a:rPr>
              <a:t>. </a:t>
            </a:r>
            <a:r>
              <a:rPr lang="en-US" sz="1050" dirty="0" err="1">
                <a:solidFill>
                  <a:schemeClr val="bg2"/>
                </a:solidFill>
              </a:rPr>
              <a:t>Acesso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15 </a:t>
            </a:r>
            <a:r>
              <a:rPr lang="en-US" sz="1050" dirty="0" err="1">
                <a:solidFill>
                  <a:schemeClr val="bg2"/>
                </a:solidFill>
              </a:rPr>
              <a:t>maio</a:t>
            </a:r>
            <a:r>
              <a:rPr lang="en-US" sz="1050" dirty="0">
                <a:solidFill>
                  <a:schemeClr val="bg2"/>
                </a:solidFill>
              </a:rPr>
              <a:t> 2026.</a:t>
            </a:r>
          </a:p>
          <a:p>
            <a:endParaRPr lang="en-US" sz="1050" dirty="0">
              <a:solidFill>
                <a:schemeClr val="bg2"/>
              </a:solidFill>
            </a:endParaRPr>
          </a:p>
          <a:p>
            <a:r>
              <a:rPr lang="en-US" sz="1050" dirty="0">
                <a:solidFill>
                  <a:schemeClr val="bg2"/>
                </a:solidFill>
              </a:rPr>
              <a:t>VERIZON. </a:t>
            </a:r>
            <a:r>
              <a:rPr lang="en-US" sz="1050" i="1" dirty="0">
                <a:solidFill>
                  <a:schemeClr val="bg2"/>
                </a:solidFill>
              </a:rPr>
              <a:t>Data Breach Investigations Report 2025</a:t>
            </a:r>
            <a:r>
              <a:rPr lang="en-US" sz="1050" dirty="0">
                <a:solidFill>
                  <a:schemeClr val="bg2"/>
                </a:solidFill>
              </a:rPr>
              <a:t>. Nova York: Verizon, 2025. </a:t>
            </a:r>
            <a:r>
              <a:rPr lang="en-US" sz="1050" dirty="0" err="1">
                <a:solidFill>
                  <a:schemeClr val="bg2"/>
                </a:solidFill>
              </a:rPr>
              <a:t>Disponível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https://www.verizon.com/business/resources/reports/dbir/</a:t>
            </a:r>
            <a:r>
              <a:rPr lang="en-US" sz="1050" dirty="0">
                <a:solidFill>
                  <a:schemeClr val="bg2"/>
                </a:solidFill>
              </a:rPr>
              <a:t>. </a:t>
            </a:r>
            <a:r>
              <a:rPr lang="en-US" sz="1050" dirty="0" err="1">
                <a:solidFill>
                  <a:schemeClr val="bg2"/>
                </a:solidFill>
              </a:rPr>
              <a:t>Acesso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15 </a:t>
            </a:r>
            <a:r>
              <a:rPr lang="en-US" sz="1050" dirty="0" err="1">
                <a:solidFill>
                  <a:schemeClr val="bg2"/>
                </a:solidFill>
              </a:rPr>
              <a:t>maio</a:t>
            </a:r>
            <a:r>
              <a:rPr lang="en-US" sz="1050" dirty="0">
                <a:solidFill>
                  <a:schemeClr val="bg2"/>
                </a:solidFill>
              </a:rPr>
              <a:t> 2026.</a:t>
            </a:r>
          </a:p>
          <a:p>
            <a:endParaRPr lang="en-US" sz="1050" dirty="0">
              <a:solidFill>
                <a:schemeClr val="bg2"/>
              </a:solidFill>
            </a:endParaRPr>
          </a:p>
          <a:p>
            <a:r>
              <a:rPr lang="en-US" sz="1050" dirty="0">
                <a:solidFill>
                  <a:schemeClr val="bg2"/>
                </a:solidFill>
              </a:rPr>
              <a:t>MARKETINTELO. </a:t>
            </a:r>
            <a:r>
              <a:rPr lang="en-US" sz="1050" i="1" dirty="0">
                <a:solidFill>
                  <a:schemeClr val="bg2"/>
                </a:solidFill>
              </a:rPr>
              <a:t>Small and Medium Business (SMB) Cybersecurity Market Report</a:t>
            </a:r>
            <a:r>
              <a:rPr lang="en-US" sz="1050" dirty="0">
                <a:solidFill>
                  <a:schemeClr val="bg2"/>
                </a:solidFill>
              </a:rPr>
              <a:t>. 2024. </a:t>
            </a:r>
            <a:r>
              <a:rPr lang="en-US" sz="1050" dirty="0" err="1">
                <a:solidFill>
                  <a:schemeClr val="bg2"/>
                </a:solidFill>
              </a:rPr>
              <a:t>Disponível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https://marketintelo.com/report/small-and-medium-business-smb-cybersecurity-market</a:t>
            </a:r>
            <a:r>
              <a:rPr lang="en-US" sz="1050" dirty="0">
                <a:solidFill>
                  <a:schemeClr val="bg2"/>
                </a:solidFill>
              </a:rPr>
              <a:t>. </a:t>
            </a:r>
            <a:r>
              <a:rPr lang="en-US" sz="1050" dirty="0" err="1">
                <a:solidFill>
                  <a:schemeClr val="bg2"/>
                </a:solidFill>
              </a:rPr>
              <a:t>Acesso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15 </a:t>
            </a:r>
            <a:r>
              <a:rPr lang="en-US" sz="1050" dirty="0" err="1">
                <a:solidFill>
                  <a:schemeClr val="bg2"/>
                </a:solidFill>
              </a:rPr>
              <a:t>maio</a:t>
            </a:r>
            <a:r>
              <a:rPr lang="en-US" sz="1050" dirty="0">
                <a:solidFill>
                  <a:schemeClr val="bg2"/>
                </a:solidFill>
              </a:rPr>
              <a:t> 2026.</a:t>
            </a:r>
          </a:p>
          <a:p>
            <a:endParaRPr lang="en-US" sz="1050" dirty="0">
              <a:solidFill>
                <a:schemeClr val="bg2"/>
              </a:solidFill>
            </a:endParaRPr>
          </a:p>
          <a:p>
            <a:r>
              <a:rPr lang="en-US" sz="1050" dirty="0">
                <a:solidFill>
                  <a:schemeClr val="bg2"/>
                </a:solidFill>
              </a:rPr>
              <a:t>FORTUNE BUSINESS INSIGHTS. </a:t>
            </a:r>
            <a:r>
              <a:rPr lang="en-US" sz="1050" i="1" dirty="0">
                <a:solidFill>
                  <a:schemeClr val="bg2"/>
                </a:solidFill>
              </a:rPr>
              <a:t>Cybersecurity Market Size, Share &amp; Industry Analysis</a:t>
            </a:r>
            <a:r>
              <a:rPr lang="en-US" sz="1050" dirty="0">
                <a:solidFill>
                  <a:schemeClr val="bg2"/>
                </a:solidFill>
              </a:rPr>
              <a:t>. 2024. </a:t>
            </a:r>
            <a:r>
              <a:rPr lang="en-US" sz="1050" dirty="0" err="1">
                <a:solidFill>
                  <a:schemeClr val="bg2"/>
                </a:solidFill>
              </a:rPr>
              <a:t>Disponível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https://www.fortunebusinessinsights.com/industry-reports/cyber-security-market-101165</a:t>
            </a:r>
            <a:r>
              <a:rPr lang="en-US" sz="1050" dirty="0">
                <a:solidFill>
                  <a:schemeClr val="bg2"/>
                </a:solidFill>
              </a:rPr>
              <a:t>. </a:t>
            </a:r>
            <a:r>
              <a:rPr lang="en-US" sz="1050" dirty="0" err="1">
                <a:solidFill>
                  <a:schemeClr val="bg2"/>
                </a:solidFill>
              </a:rPr>
              <a:t>Acesso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15 </a:t>
            </a:r>
            <a:r>
              <a:rPr lang="en-US" sz="1050" dirty="0" err="1">
                <a:solidFill>
                  <a:schemeClr val="bg2"/>
                </a:solidFill>
              </a:rPr>
              <a:t>maio</a:t>
            </a:r>
            <a:r>
              <a:rPr lang="en-US" sz="1050" dirty="0">
                <a:solidFill>
                  <a:schemeClr val="bg2"/>
                </a:solidFill>
              </a:rPr>
              <a:t> 2026.</a:t>
            </a:r>
          </a:p>
          <a:p>
            <a:endParaRPr lang="en-US" sz="1050" dirty="0">
              <a:solidFill>
                <a:schemeClr val="bg2"/>
              </a:solidFill>
            </a:endParaRPr>
          </a:p>
          <a:p>
            <a:r>
              <a:rPr lang="en-US" sz="1050" dirty="0">
                <a:solidFill>
                  <a:schemeClr val="bg2"/>
                </a:solidFill>
              </a:rPr>
              <a:t>ISC². </a:t>
            </a:r>
            <a:r>
              <a:rPr lang="en-US" sz="1050" i="1" dirty="0">
                <a:solidFill>
                  <a:schemeClr val="bg2"/>
                </a:solidFill>
              </a:rPr>
              <a:t>ISC² Cybersecurity Workforce Study 2024</a:t>
            </a:r>
            <a:r>
              <a:rPr lang="en-US" sz="1050" dirty="0">
                <a:solidFill>
                  <a:schemeClr val="bg2"/>
                </a:solidFill>
              </a:rPr>
              <a:t>. Clearwater: ISC², 2024. </a:t>
            </a:r>
            <a:r>
              <a:rPr lang="en-US" sz="1050" dirty="0" err="1">
                <a:solidFill>
                  <a:schemeClr val="bg2"/>
                </a:solidFill>
              </a:rPr>
              <a:t>Disponível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https://www.isc2.org/research/workforce-study</a:t>
            </a:r>
            <a:r>
              <a:rPr lang="en-US" sz="1050" dirty="0">
                <a:solidFill>
                  <a:schemeClr val="bg2"/>
                </a:solidFill>
              </a:rPr>
              <a:t>. </a:t>
            </a:r>
            <a:r>
              <a:rPr lang="en-US" sz="1050" dirty="0" err="1">
                <a:solidFill>
                  <a:schemeClr val="bg2"/>
                </a:solidFill>
              </a:rPr>
              <a:t>Acesso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16 </a:t>
            </a:r>
            <a:r>
              <a:rPr lang="en-US" sz="1050" dirty="0" err="1">
                <a:solidFill>
                  <a:schemeClr val="bg2"/>
                </a:solidFill>
              </a:rPr>
              <a:t>maio</a:t>
            </a:r>
            <a:r>
              <a:rPr lang="en-US" sz="1050" dirty="0">
                <a:solidFill>
                  <a:schemeClr val="bg2"/>
                </a:solidFill>
              </a:rPr>
              <a:t> 2026.</a:t>
            </a:r>
          </a:p>
          <a:p>
            <a:endParaRPr lang="en-US" sz="1050" dirty="0">
              <a:solidFill>
                <a:schemeClr val="bg2"/>
              </a:solidFill>
            </a:endParaRPr>
          </a:p>
          <a:p>
            <a:r>
              <a:rPr lang="en-US" sz="1050" dirty="0">
                <a:solidFill>
                  <a:schemeClr val="bg2"/>
                </a:solidFill>
              </a:rPr>
              <a:t>FORTINET. </a:t>
            </a:r>
            <a:r>
              <a:rPr lang="en-US" sz="1050" i="1" dirty="0">
                <a:solidFill>
                  <a:schemeClr val="bg2"/>
                </a:solidFill>
              </a:rPr>
              <a:t>2024 Cybersecurity Skills Gap Report</a:t>
            </a:r>
            <a:r>
              <a:rPr lang="en-US" sz="1050" dirty="0">
                <a:solidFill>
                  <a:schemeClr val="bg2"/>
                </a:solidFill>
              </a:rPr>
              <a:t>. Sunnyvale: Fortinet, 2024. </a:t>
            </a:r>
            <a:r>
              <a:rPr lang="en-US" sz="1050" dirty="0" err="1">
                <a:solidFill>
                  <a:schemeClr val="bg2"/>
                </a:solidFill>
              </a:rPr>
              <a:t>Disponível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https://www.fortinet.com/content/dam/fortinet/assets/reports/report-2024-cybersecurity-skills-gap.pdf</a:t>
            </a:r>
            <a:r>
              <a:rPr lang="en-US" sz="1050" dirty="0">
                <a:solidFill>
                  <a:schemeClr val="bg2"/>
                </a:solidFill>
              </a:rPr>
              <a:t>. </a:t>
            </a:r>
            <a:r>
              <a:rPr lang="en-US" sz="1050" dirty="0" err="1">
                <a:solidFill>
                  <a:schemeClr val="bg2"/>
                </a:solidFill>
              </a:rPr>
              <a:t>Acesso</a:t>
            </a:r>
            <a:r>
              <a:rPr lang="en-US" sz="1050" dirty="0">
                <a:solidFill>
                  <a:schemeClr val="bg2"/>
                </a:solidFill>
              </a:rPr>
              <a:t> </a:t>
            </a:r>
            <a:r>
              <a:rPr lang="en-US" sz="1050" dirty="0" err="1">
                <a:solidFill>
                  <a:schemeClr val="bg2"/>
                </a:solidFill>
              </a:rPr>
              <a:t>em</a:t>
            </a:r>
            <a:r>
              <a:rPr lang="en-US" sz="1050" dirty="0">
                <a:solidFill>
                  <a:schemeClr val="bg2"/>
                </a:solidFill>
              </a:rPr>
              <a:t>: 16 </a:t>
            </a:r>
            <a:r>
              <a:rPr lang="en-US" sz="1050" dirty="0" err="1">
                <a:solidFill>
                  <a:schemeClr val="bg2"/>
                </a:solidFill>
              </a:rPr>
              <a:t>maio</a:t>
            </a:r>
            <a:r>
              <a:rPr lang="en-US" sz="1050" dirty="0">
                <a:solidFill>
                  <a:schemeClr val="bg2"/>
                </a:solidFill>
              </a:rPr>
              <a:t> 2026.</a:t>
            </a:r>
          </a:p>
          <a:p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275A55C-BB56-A4AB-2244-3300463F40C9}"/>
              </a:ext>
            </a:extLst>
          </p:cNvPr>
          <p:cNvSpPr/>
          <p:nvPr/>
        </p:nvSpPr>
        <p:spPr>
          <a:xfrm>
            <a:off x="274320" y="1135380"/>
            <a:ext cx="73152" cy="37566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67A19E6-AC16-8030-4079-C19085E0F14E}"/>
              </a:ext>
            </a:extLst>
          </p:cNvPr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Mauá de </a:t>
            </a:r>
            <a:r>
              <a:rPr lang="en-US" sz="900" dirty="0" err="1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5476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2385</Words>
  <Application>Microsoft Office PowerPoint</Application>
  <PresentationFormat>On-screen Show (16:9)</PresentationFormat>
  <Paragraphs>313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THOMASI RONCA</cp:lastModifiedBy>
  <cp:revision>2</cp:revision>
  <dcterms:created xsi:type="dcterms:W3CDTF">2026-05-16T12:42:24Z</dcterms:created>
  <dcterms:modified xsi:type="dcterms:W3CDTF">2026-05-16T15:19:43Z</dcterms:modified>
</cp:coreProperties>
</file>